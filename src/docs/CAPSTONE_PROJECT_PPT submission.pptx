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 id="2147483963" r:id="rId2"/>
  </p:sldMasterIdLst>
  <p:notesMasterIdLst>
    <p:notesMasterId r:id="rId18"/>
  </p:notesMasterIdLst>
  <p:handoutMasterIdLst>
    <p:handoutMasterId r:id="rId19"/>
  </p:handoutMasterIdLst>
  <p:sldIdLst>
    <p:sldId id="1046" r:id="rId3"/>
    <p:sldId id="507" r:id="rId4"/>
    <p:sldId id="1027" r:id="rId5"/>
    <p:sldId id="1056" r:id="rId6"/>
    <p:sldId id="1048" r:id="rId7"/>
    <p:sldId id="1034" r:id="rId8"/>
    <p:sldId id="1037" r:id="rId9"/>
    <p:sldId id="1061" r:id="rId10"/>
    <p:sldId id="1062" r:id="rId11"/>
    <p:sldId id="1063" r:id="rId12"/>
    <p:sldId id="1064" r:id="rId13"/>
    <p:sldId id="1051" r:id="rId14"/>
    <p:sldId id="1052" r:id="rId15"/>
    <p:sldId id="1065" r:id="rId16"/>
    <p:sldId id="1045" r:id="rId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0" y="2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Capstone Project - I</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3/6/2026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Department of CSE - IT</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r>
              <a:rPr lang="en-US"/>
              <a:t>Capstone Project - I</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3/6/2026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r>
              <a:rPr lang="en-US" dirty="0"/>
              <a:t>Department of CSE - IT</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2</a:t>
            </a:fld>
            <a:endParaRPr lang="en-US"/>
          </a:p>
        </p:txBody>
      </p:sp>
      <p:sp>
        <p:nvSpPr>
          <p:cNvPr id="5" name="Footer Placeholder 4">
            <a:extLst>
              <a:ext uri="{FF2B5EF4-FFF2-40B4-BE49-F238E27FC236}">
                <a16:creationId xmlns:a16="http://schemas.microsoft.com/office/drawing/2014/main" id="{2AC104A3-EDF0-34FB-7FAD-C46BD29D7EB9}"/>
              </a:ext>
            </a:extLst>
          </p:cNvPr>
          <p:cNvSpPr>
            <a:spLocks noGrp="1"/>
          </p:cNvSpPr>
          <p:nvPr>
            <p:ph type="ftr" sz="quarter" idx="4"/>
          </p:nvPr>
        </p:nvSpPr>
        <p:spPr/>
        <p:txBody>
          <a:bodyPr/>
          <a:lstStyle/>
          <a:p>
            <a:pPr>
              <a:defRPr/>
            </a:pPr>
            <a:r>
              <a:rPr lang="en-US" dirty="0"/>
              <a:t>Department of CSE - IT</a:t>
            </a:r>
          </a:p>
        </p:txBody>
      </p:sp>
      <p:sp>
        <p:nvSpPr>
          <p:cNvPr id="6" name="Header Placeholder 5">
            <a:extLst>
              <a:ext uri="{FF2B5EF4-FFF2-40B4-BE49-F238E27FC236}">
                <a16:creationId xmlns:a16="http://schemas.microsoft.com/office/drawing/2014/main" id="{67BFB1A5-F1FF-2A17-971E-572211CF4900}"/>
              </a:ext>
            </a:extLst>
          </p:cNvPr>
          <p:cNvSpPr>
            <a:spLocks noGrp="1"/>
          </p:cNvSpPr>
          <p:nvPr>
            <p:ph type="hdr" sz="quarter"/>
          </p:nvPr>
        </p:nvSpPr>
        <p:spPr/>
        <p:txBody>
          <a:bodyPr/>
          <a:lstStyle/>
          <a:p>
            <a:pPr>
              <a:defRPr/>
            </a:pPr>
            <a:r>
              <a:rPr lang="en-US"/>
              <a:t>Capstone Project - I</a:t>
            </a:r>
          </a:p>
        </p:txBody>
      </p:sp>
    </p:spTree>
    <p:extLst>
      <p:ext uri="{BB962C8B-B14F-4D97-AF65-F5344CB8AC3E}">
        <p14:creationId xmlns:p14="http://schemas.microsoft.com/office/powerpoint/2010/main" val="2577393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pPr>
              <a:defRPr/>
            </a:pPr>
            <a:r>
              <a:rPr lang="en-US"/>
              <a:t>Capstone Project - I</a:t>
            </a:r>
          </a:p>
        </p:txBody>
      </p:sp>
      <p:sp>
        <p:nvSpPr>
          <p:cNvPr id="5" name="Footer Placeholder 4"/>
          <p:cNvSpPr>
            <a:spLocks noGrp="1"/>
          </p:cNvSpPr>
          <p:nvPr>
            <p:ph type="ftr" sz="quarter" idx="4"/>
          </p:nvPr>
        </p:nvSpPr>
        <p:spPr/>
        <p:txBody>
          <a:bodyPr/>
          <a:lstStyle/>
          <a:p>
            <a:pPr>
              <a:defRPr/>
            </a:pPr>
            <a:r>
              <a:rPr lang="en-US"/>
              <a:t>Department of CSE - IT</a:t>
            </a:r>
            <a:endParaRPr lang="en-US" dirty="0"/>
          </a:p>
        </p:txBody>
      </p:sp>
      <p:sp>
        <p:nvSpPr>
          <p:cNvPr id="6" name="Slide Number Placeholder 5"/>
          <p:cNvSpPr>
            <a:spLocks noGrp="1"/>
          </p:cNvSpPr>
          <p:nvPr>
            <p:ph type="sldNum" sz="quarter" idx="5"/>
          </p:nvPr>
        </p:nvSpPr>
        <p:spPr/>
        <p:txBody>
          <a:bodyPr/>
          <a:lstStyle/>
          <a:p>
            <a:pPr>
              <a:defRPr/>
            </a:pPr>
            <a:fld id="{FD4853D3-BCEF-4909-916C-A78958746ECE}" type="slidenum">
              <a:rPr lang="en-US" smtClean="0"/>
              <a:pPr>
                <a:defRPr/>
              </a:pPr>
              <a:t>6</a:t>
            </a:fld>
            <a:endParaRPr lang="en-US"/>
          </a:p>
        </p:txBody>
      </p:sp>
    </p:spTree>
    <p:extLst>
      <p:ext uri="{BB962C8B-B14F-4D97-AF65-F5344CB8AC3E}">
        <p14:creationId xmlns:p14="http://schemas.microsoft.com/office/powerpoint/2010/main" val="1237185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5594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22773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6977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53561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78985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391358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6182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316718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04229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03968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761064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500295"/>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9971ECC5-51D9-4E70-89C1-3DCF3A372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6" name="Title 5">
            <a:extLst>
              <a:ext uri="{FF2B5EF4-FFF2-40B4-BE49-F238E27FC236}">
                <a16:creationId xmlns:a16="http://schemas.microsoft.com/office/drawing/2014/main" id="{CDB23AE4-1FC8-68DA-BE55-F2B4A3E95D2E}"/>
              </a:ext>
            </a:extLst>
          </p:cNvPr>
          <p:cNvSpPr>
            <a:spLocks noGrp="1"/>
          </p:cNvSpPr>
          <p:nvPr>
            <p:ph type="title"/>
          </p:nvPr>
        </p:nvSpPr>
        <p:spPr>
          <a:xfrm>
            <a:off x="696686" y="4174302"/>
            <a:ext cx="10850810" cy="1246784"/>
          </a:xfrm>
        </p:spPr>
        <p:txBody>
          <a:bodyPr vert="horz" lIns="91440" tIns="45720" rIns="91440" bIns="45720" rtlCol="0" anchor="b">
            <a:normAutofit/>
          </a:bodyPr>
          <a:lstStyle/>
          <a:p>
            <a:r>
              <a:rPr lang="en-US" sz="2400" dirty="0">
                <a:solidFill>
                  <a:schemeClr val="tx1">
                    <a:lumMod val="85000"/>
                    <a:lumOff val="15000"/>
                  </a:schemeClr>
                </a:solidFill>
                <a:latin typeface="Bookman Old Style" panose="02050604050505020204" pitchFamily="18" charset="0"/>
              </a:rPr>
              <a:t>                                      Year: IV &amp; Semester: VII</a:t>
            </a:r>
            <a:br>
              <a:rPr lang="en-US" sz="2400" dirty="0">
                <a:solidFill>
                  <a:schemeClr val="tx1">
                    <a:lumMod val="85000"/>
                    <a:lumOff val="15000"/>
                  </a:schemeClr>
                </a:solidFill>
                <a:latin typeface="Bookman Old Style" panose="02050604050505020204" pitchFamily="18" charset="0"/>
              </a:rPr>
            </a:br>
            <a:r>
              <a:rPr lang="en-US" sz="2400" dirty="0">
                <a:solidFill>
                  <a:schemeClr val="tx1">
                    <a:lumMod val="85000"/>
                    <a:lumOff val="15000"/>
                  </a:schemeClr>
                </a:solidFill>
                <a:latin typeface="Bookman Old Style" panose="02050604050505020204" pitchFamily="18" charset="0"/>
              </a:rPr>
              <a:t>                         Alliance School of Advanced Computing</a:t>
            </a:r>
            <a:br>
              <a:rPr lang="en-US" sz="2400" dirty="0">
                <a:solidFill>
                  <a:schemeClr val="tx1">
                    <a:lumMod val="85000"/>
                    <a:lumOff val="15000"/>
                  </a:schemeClr>
                </a:solidFill>
                <a:latin typeface="Bookman Old Style" panose="02050604050505020204" pitchFamily="18" charset="0"/>
              </a:rPr>
            </a:br>
            <a:r>
              <a:rPr lang="en-US" sz="2400" dirty="0">
                <a:solidFill>
                  <a:schemeClr val="tx1">
                    <a:lumMod val="85000"/>
                    <a:lumOff val="15000"/>
                  </a:schemeClr>
                </a:solidFill>
                <a:latin typeface="Bookman Old Style" panose="02050604050505020204" pitchFamily="18" charset="0"/>
              </a:rPr>
              <a:t>                                      Department of CSE-IT</a:t>
            </a:r>
            <a:endParaRPr sz="2400" dirty="0"/>
          </a:p>
        </p:txBody>
      </p:sp>
      <p:pic>
        <p:nvPicPr>
          <p:cNvPr id="5" name="Picture 4" descr="A black background with red text&#10;&#10;AI-generated content may be incorrect.">
            <a:extLst>
              <a:ext uri="{FF2B5EF4-FFF2-40B4-BE49-F238E27FC236}">
                <a16:creationId xmlns:a16="http://schemas.microsoft.com/office/drawing/2014/main" id="{5B0AB609-1C8A-7A52-6B87-5C95672451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2457" y="793127"/>
            <a:ext cx="8669852" cy="1603920"/>
          </a:xfrm>
          <a:prstGeom prst="rect">
            <a:avLst/>
          </a:prstGeom>
        </p:spPr>
      </p:pic>
      <p:cxnSp>
        <p:nvCxnSpPr>
          <p:cNvPr id="19" name="Straight Connector 18">
            <a:extLst>
              <a:ext uri="{FF2B5EF4-FFF2-40B4-BE49-F238E27FC236}">
                <a16:creationId xmlns:a16="http://schemas.microsoft.com/office/drawing/2014/main" id="{432529AB-8F99-47FB-91B5-93565E543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5159" y="5433708"/>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E11F890-74C3-40C9-9A8B-A80E38704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3" name="Rectangle 22">
            <a:extLst>
              <a:ext uri="{FF2B5EF4-FFF2-40B4-BE49-F238E27FC236}">
                <a16:creationId xmlns:a16="http://schemas.microsoft.com/office/drawing/2014/main" id="{27874070-078A-470B-9C8C-BD1BCB55A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3" name="Footer Placeholder 2">
            <a:extLst>
              <a:ext uri="{FF2B5EF4-FFF2-40B4-BE49-F238E27FC236}">
                <a16:creationId xmlns:a16="http://schemas.microsoft.com/office/drawing/2014/main" id="{B4AD7705-F958-6FDD-4E8E-663D644EBC17}"/>
              </a:ext>
            </a:extLst>
          </p:cNvPr>
          <p:cNvSpPr>
            <a:spLocks noGrp="1"/>
          </p:cNvSpPr>
          <p:nvPr>
            <p:ph type="ftr" sz="quarter" idx="11"/>
          </p:nvPr>
        </p:nvSpPr>
        <p:spPr/>
        <p:txBody>
          <a:bodyPr/>
          <a:lstStyle/>
          <a:p>
            <a:r>
              <a:rPr sz="2400" dirty="0"/>
              <a:t>Department of CSE - IT</a:t>
            </a:r>
          </a:p>
        </p:txBody>
      </p:sp>
      <p:sp>
        <p:nvSpPr>
          <p:cNvPr id="4" name="TextBox 3">
            <a:extLst>
              <a:ext uri="{FF2B5EF4-FFF2-40B4-BE49-F238E27FC236}">
                <a16:creationId xmlns:a16="http://schemas.microsoft.com/office/drawing/2014/main" id="{D634D7ED-C5C4-7B84-42C7-88E19B4B5085}"/>
              </a:ext>
            </a:extLst>
          </p:cNvPr>
          <p:cNvSpPr txBox="1"/>
          <p:nvPr/>
        </p:nvSpPr>
        <p:spPr>
          <a:xfrm>
            <a:off x="3048000" y="3182036"/>
            <a:ext cx="8499496" cy="861774"/>
          </a:xfrm>
          <a:prstGeom prst="rect">
            <a:avLst/>
          </a:prstGeom>
          <a:noFill/>
        </p:spPr>
        <p:txBody>
          <a:bodyPr wrap="square">
            <a:spAutoFit/>
          </a:bodyPr>
          <a:lstStyle/>
          <a:p>
            <a:r>
              <a:rPr lang="en-US" sz="3200" b="1" dirty="0">
                <a:solidFill>
                  <a:schemeClr val="tx1">
                    <a:lumMod val="85000"/>
                    <a:lumOff val="15000"/>
                  </a:schemeClr>
                </a:solidFill>
                <a:latin typeface="Bookman Old Style" panose="02050604050505020204" pitchFamily="18" charset="0"/>
              </a:rPr>
              <a:t>  CAPSTONE PROJECT - 1</a:t>
            </a:r>
            <a:br>
              <a:rPr lang="en-US" sz="1400" dirty="0">
                <a:solidFill>
                  <a:schemeClr val="tx1">
                    <a:lumMod val="85000"/>
                    <a:lumOff val="15000"/>
                  </a:schemeClr>
                </a:solidFill>
                <a:latin typeface="Bookman Old Style" panose="02050604050505020204" pitchFamily="18" charset="0"/>
              </a:rPr>
            </a:br>
            <a:endParaRPr lang="en-IN" dirty="0"/>
          </a:p>
        </p:txBody>
      </p:sp>
    </p:spTree>
    <p:extLst>
      <p:ext uri="{BB962C8B-B14F-4D97-AF65-F5344CB8AC3E}">
        <p14:creationId xmlns:p14="http://schemas.microsoft.com/office/powerpoint/2010/main" val="322567391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5">
            <a:extLst>
              <a:ext uri="{FF2B5EF4-FFF2-40B4-BE49-F238E27FC236}">
                <a16:creationId xmlns:a16="http://schemas.microsoft.com/office/drawing/2014/main" id="{27730FEB-39A4-55AF-1A5E-7D14BEA4EF64}"/>
              </a:ext>
            </a:extLst>
          </p:cNvPr>
          <p:cNvSpPr txBox="1">
            <a:spLocks/>
          </p:cNvSpPr>
          <p:nvPr/>
        </p:nvSpPr>
        <p:spPr>
          <a:xfrm>
            <a:off x="1234008" y="784718"/>
            <a:ext cx="8704649" cy="468895"/>
          </a:xfrm>
          <a:prstGeom prst="rect">
            <a:avLst/>
          </a:prstGeom>
        </p:spPr>
        <p:txBody>
          <a:bodyPr vert="horz" lIns="91440" tIns="45720" rIns="91440" bIns="45720" rtlCol="0" anchor="t">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en-IN" sz="2400" b="1" dirty="0">
                <a:latin typeface="Times New Roman"/>
                <a:cs typeface="Times New Roman"/>
              </a:rPr>
              <a:t>Title of the Project: </a:t>
            </a:r>
            <a:r>
              <a:rPr lang="en-US" sz="2400" b="1" dirty="0">
                <a:latin typeface="Times New Roman"/>
                <a:cs typeface="Times New Roman"/>
              </a:rPr>
              <a:t>Advanced vitamin deficiency detection using deep learning</a:t>
            </a:r>
            <a:endParaRPr lang="en-IN" sz="2400" b="1" dirty="0">
              <a:latin typeface="Times New Roman" panose="02020603050405020304" pitchFamily="18" charset="0"/>
              <a:cs typeface="Times New Roman" panose="02020603050405020304" pitchFamily="18" charset="0"/>
            </a:endParaRPr>
          </a:p>
          <a:p>
            <a:pPr algn="l" fontAlgn="auto">
              <a:spcAft>
                <a:spcPts val="0"/>
              </a:spcAft>
            </a:pPr>
            <a:endParaRPr lang="en-IN" sz="2400" dirty="0"/>
          </a:p>
        </p:txBody>
      </p:sp>
      <p:graphicFrame>
        <p:nvGraphicFramePr>
          <p:cNvPr id="7" name="Table 6">
            <a:extLst>
              <a:ext uri="{FF2B5EF4-FFF2-40B4-BE49-F238E27FC236}">
                <a16:creationId xmlns:a16="http://schemas.microsoft.com/office/drawing/2014/main" id="{48F49343-1CAD-8BB2-9B1E-34E21E2A97FF}"/>
              </a:ext>
            </a:extLst>
          </p:cNvPr>
          <p:cNvGraphicFramePr>
            <a:graphicFrameLocks noGrp="1"/>
          </p:cNvGraphicFramePr>
          <p:nvPr>
            <p:extLst>
              <p:ext uri="{D42A27DB-BD31-4B8C-83A1-F6EECF244321}">
                <p14:modId xmlns:p14="http://schemas.microsoft.com/office/powerpoint/2010/main" val="2712260782"/>
              </p:ext>
            </p:extLst>
          </p:nvPr>
        </p:nvGraphicFramePr>
        <p:xfrm>
          <a:off x="371192" y="1533832"/>
          <a:ext cx="11427518" cy="5169208"/>
        </p:xfrm>
        <a:graphic>
          <a:graphicData uri="http://schemas.openxmlformats.org/drawingml/2006/table">
            <a:tbl>
              <a:tblPr firstRow="1" bandRow="1">
                <a:tableStyleId>{5C22544A-7EE6-4342-B048-85BDC9FD1C3A}</a:tableStyleId>
              </a:tblPr>
              <a:tblGrid>
                <a:gridCol w="893011">
                  <a:extLst>
                    <a:ext uri="{9D8B030D-6E8A-4147-A177-3AD203B41FA5}">
                      <a16:colId xmlns:a16="http://schemas.microsoft.com/office/drawing/2014/main" val="2972400285"/>
                    </a:ext>
                  </a:extLst>
                </a:gridCol>
                <a:gridCol w="2613422">
                  <a:extLst>
                    <a:ext uri="{9D8B030D-6E8A-4147-A177-3AD203B41FA5}">
                      <a16:colId xmlns:a16="http://schemas.microsoft.com/office/drawing/2014/main" val="696111905"/>
                    </a:ext>
                  </a:extLst>
                </a:gridCol>
                <a:gridCol w="3017556">
                  <a:extLst>
                    <a:ext uri="{9D8B030D-6E8A-4147-A177-3AD203B41FA5}">
                      <a16:colId xmlns:a16="http://schemas.microsoft.com/office/drawing/2014/main" val="1956453321"/>
                    </a:ext>
                  </a:extLst>
                </a:gridCol>
                <a:gridCol w="1555927">
                  <a:extLst>
                    <a:ext uri="{9D8B030D-6E8A-4147-A177-3AD203B41FA5}">
                      <a16:colId xmlns:a16="http://schemas.microsoft.com/office/drawing/2014/main" val="141396521"/>
                    </a:ext>
                  </a:extLst>
                </a:gridCol>
                <a:gridCol w="2074570">
                  <a:extLst>
                    <a:ext uri="{9D8B030D-6E8A-4147-A177-3AD203B41FA5}">
                      <a16:colId xmlns:a16="http://schemas.microsoft.com/office/drawing/2014/main" val="4195687047"/>
                    </a:ext>
                  </a:extLst>
                </a:gridCol>
                <a:gridCol w="1273032">
                  <a:extLst>
                    <a:ext uri="{9D8B030D-6E8A-4147-A177-3AD203B41FA5}">
                      <a16:colId xmlns:a16="http://schemas.microsoft.com/office/drawing/2014/main" val="3878184814"/>
                    </a:ext>
                  </a:extLst>
                </a:gridCol>
              </a:tblGrid>
              <a:tr h="995122">
                <a:tc>
                  <a:txBody>
                    <a:bodyPr/>
                    <a:lstStyle/>
                    <a:p>
                      <a:pPr algn="ctr"/>
                      <a:r>
                        <a:rPr lang="en-US" sz="1800" b="1" dirty="0"/>
                        <a:t>Sl. No</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Reg. No</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Student Name</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Program</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Guide Name</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Date of Review</a:t>
                      </a:r>
                      <a:endParaRPr lang="en-US" sz="18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07814615"/>
                  </a:ext>
                </a:extLst>
              </a:tr>
              <a:tr h="995122">
                <a:tc>
                  <a:txBody>
                    <a:bodyPr/>
                    <a:lstStyle/>
                    <a:p>
                      <a:pPr algn="ctr"/>
                      <a:r>
                        <a:rPr lang="en-US" sz="1800" b="1" dirty="0"/>
                        <a:t>1</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B JAYA HARSHITHA REDDY</a:t>
                      </a:r>
                    </a:p>
                    <a:p>
                      <a:pPr algn="ct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sz="1800" b="1" dirty="0">
                          <a:latin typeface="Times New Roman" panose="02020603050405020304" pitchFamily="18" charset="0"/>
                          <a:cs typeface="Times New Roman" panose="02020603050405020304" pitchFamily="18" charset="0"/>
                        </a:rPr>
                        <a:t>Dr . RC </a:t>
                      </a:r>
                      <a:r>
                        <a:rPr lang="en-US" sz="1800" b="1" dirty="0" err="1">
                          <a:latin typeface="Times New Roman" panose="02020603050405020304" pitchFamily="18" charset="0"/>
                          <a:cs typeface="Times New Roman" panose="02020603050405020304" pitchFamily="18" charset="0"/>
                        </a:rPr>
                        <a:t>Karpagalakshmi</a:t>
                      </a:r>
                      <a:endParaRPr lang="en-US" sz="1800" b="1"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sz="1800" b="1" dirty="0"/>
                        <a:t>25-10-2025</a:t>
                      </a:r>
                      <a:endParaRPr lang="en-US" sz="18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01680"/>
                  </a:ext>
                </a:extLst>
              </a:tr>
              <a:tr h="995122">
                <a:tc>
                  <a:txBody>
                    <a:bodyPr/>
                    <a:lstStyle/>
                    <a:p>
                      <a:pPr algn="ctr"/>
                      <a:r>
                        <a:rPr lang="en-US" sz="1800" b="1" dirty="0"/>
                        <a:t>2</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KUMMATHI SUSMITHA</a:t>
                      </a:r>
                    </a:p>
                    <a:p>
                      <a:pPr algn="ct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CSE-AIML</a:t>
                      </a: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212559703"/>
                  </a:ext>
                </a:extLst>
              </a:tr>
              <a:tr h="995122">
                <a:tc>
                  <a:txBody>
                    <a:bodyPr/>
                    <a:lstStyle/>
                    <a:p>
                      <a:pPr algn="ctr"/>
                      <a:r>
                        <a:rPr lang="en-US" sz="1800" b="1" dirty="0"/>
                        <a:t>3</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2022BCSE07AED472</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MATTEDDULA KEERTHI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895138831"/>
                  </a:ext>
                </a:extLst>
              </a:tr>
              <a:tr h="995122">
                <a:tc>
                  <a:txBody>
                    <a:bodyPr/>
                    <a:lstStyle/>
                    <a:p>
                      <a:pPr algn="ctr"/>
                      <a:r>
                        <a:rPr lang="en-US" sz="1800" b="1" dirty="0"/>
                        <a:t>4</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2022BCSE07AED172</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B BHARGAV KUMAR REDDY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787030967"/>
                  </a:ext>
                </a:extLst>
              </a:tr>
            </a:tbl>
          </a:graphicData>
        </a:graphic>
      </p:graphicFrame>
      <p:pic>
        <p:nvPicPr>
          <p:cNvPr id="1026" name="Picture 2">
            <a:extLst>
              <a:ext uri="{FF2B5EF4-FFF2-40B4-BE49-F238E27FC236}">
                <a16:creationId xmlns:a16="http://schemas.microsoft.com/office/drawing/2014/main" id="{E6C2AABD-612C-F44E-128E-8584F009DB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315685" y="683895"/>
            <a:ext cx="11647715" cy="5803991"/>
          </a:xfrm>
        </p:spPr>
        <p:txBody>
          <a:bodyPr>
            <a:noAutofit/>
          </a:bodyPr>
          <a:lstStyle/>
          <a:p>
            <a:pPr>
              <a:lnSpc>
                <a:spcPct val="150000"/>
              </a:lnSpc>
              <a:buAutoNum type="arabicPeriod"/>
            </a:pPr>
            <a:r>
              <a:rPr lang="en-US" sz="2200" dirty="0">
                <a:latin typeface="Times New Roman" panose="02020603050405020304" pitchFamily="18" charset="0"/>
                <a:cs typeface="Times New Roman" panose="02020603050405020304" pitchFamily="18" charset="0"/>
              </a:rPr>
              <a:t>         Project Title</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Abstract</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Problem Statement</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Objectives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Methodology</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Implementation Details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Results (if available)</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Tools &amp; Technologies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Hardware &amp; Software Requirements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Research Paper Status</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Industrial Collaboration (if any)</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PPT Link (Updated till date)</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Proof Links (Paper Submission / Hackathon if available)</a:t>
            </a: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609600" y="-457199"/>
            <a:ext cx="8962103" cy="1141094"/>
          </a:xfrm>
        </p:spPr>
        <p:txBody>
          <a:bodyPr>
            <a:noAutofit/>
          </a:bodyPr>
          <a:lstStyle/>
          <a:p>
            <a:pPr algn="l">
              <a:lnSpc>
                <a:spcPct val="150000"/>
              </a:lnSpc>
            </a:pP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Agenda</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0CFE3EA3-973C-DB2F-11E7-6ABE9E0228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CBDE82-3314-F3C9-D1C2-6B56EA3C4AAF}"/>
              </a:ext>
            </a:extLst>
          </p:cNvPr>
          <p:cNvSpPr>
            <a:spLocks noGrp="1"/>
          </p:cNvSpPr>
          <p:nvPr>
            <p:ph type="title"/>
          </p:nvPr>
        </p:nvSpPr>
        <p:spPr/>
        <p:txBody>
          <a:bodyPr>
            <a:normAutofit/>
          </a:bodyPr>
          <a:lstStyle/>
          <a:p>
            <a:r>
              <a:rPr lang="en-US" sz="2400" b="1" dirty="0"/>
              <a:t>Abstract</a:t>
            </a:r>
            <a:endParaRPr lang="en-IN" sz="2400" b="1" dirty="0"/>
          </a:p>
        </p:txBody>
      </p:sp>
      <p:sp>
        <p:nvSpPr>
          <p:cNvPr id="4" name="Rectangle 1">
            <a:extLst>
              <a:ext uri="{FF2B5EF4-FFF2-40B4-BE49-F238E27FC236}">
                <a16:creationId xmlns:a16="http://schemas.microsoft.com/office/drawing/2014/main" id="{F04BC26B-F0C4-4C1D-7D1E-600FEE499A3F}"/>
              </a:ext>
            </a:extLst>
          </p:cNvPr>
          <p:cNvSpPr>
            <a:spLocks noGrp="1" noChangeArrowheads="1"/>
          </p:cNvSpPr>
          <p:nvPr>
            <p:ph idx="1"/>
          </p:nvPr>
        </p:nvSpPr>
        <p:spPr bwMode="auto">
          <a:xfrm>
            <a:off x="348343" y="385741"/>
            <a:ext cx="1123405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r>
              <a:rPr lang="en-US" sz="2200" dirty="0"/>
              <a:t>In today’s fast-paced lifestyle, vitamin deficiencies have become a common health concern, affecting a large portion of the population. Early detection is essential to prevent severe complications and enhance overall healthcare outcomes. To address this issue, the project introduces a hybrid CNN-ANN architecture-based detection framework. The CNN component is used for image classification because of its superior feature extraction capabilities and strong performance in visual recognition tasks, achieving an accuracy of about 90%. Meanwhile, the ANN processes textual and tabular data, offering robustness when working with incomplete or noisy medical information and performing well with sufficient training samples. The system collects images of eye color, nails, and pale skin and analyzes them through the CNN and ANN models to accurately identify potential vitamin deficiencies. This integrated approach ensures reliable and efficient detection, making the system both effective and practical for real-world problems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1361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3D3C51-49E5-9F14-752A-25008BAE1E68}"/>
              </a:ext>
            </a:extLst>
          </p:cNvPr>
          <p:cNvSpPr>
            <a:spLocks noGrp="1"/>
          </p:cNvSpPr>
          <p:nvPr>
            <p:ph idx="1"/>
          </p:nvPr>
        </p:nvSpPr>
        <p:spPr/>
        <p:txBody>
          <a:bodyPr>
            <a:normAutofit fontScale="70000" lnSpcReduction="20000"/>
          </a:bodyPr>
          <a:lstStyle/>
          <a:p>
            <a:pPr marL="0" indent="0" algn="just">
              <a:buNone/>
            </a:pPr>
            <a:endParaRPr lang="en-US" dirty="0"/>
          </a:p>
          <a:p>
            <a:pPr marL="0" indent="0" algn="just">
              <a:buNone/>
            </a:pPr>
            <a:r>
              <a:rPr lang="en-US" dirty="0"/>
              <a:t>vitamin deficiencies such as A, B12, C, D, Iron, folate have become increasingly common causing severe issues due to the lifestyle changes, unbalanced diet plans, climate changes, lack of early detection and limited access to healthcare facilities. It is important to detect these deficiencies to prevent severe health problems, complications and to improve the health care. The most common deficiencies are Vitamin A, B12, D, iron, iodine and calcium deficiencies which will affect the most of the population and cause variety of diseases and disabilities. If the deficiencies are not identified early can lead to severe complications like complete blindness, memory loss, muscle weakness, heart failure, pregnancy related complications and dental problems. Early signs like pale nails, dry skin, white tongue, hair thinning, cracked lips are commonly ignored until it becomes severe. Traditional diagnostic methods heavily depends on laboratory blood tests which are very expensive, time consuming, not easily accessible in many regions like remote areas, low-income populations and rural areas. With advancements in Artificial Intelligence, image-based, symptom-based prediction systems can make early detection of deficiencies, cheaper and easily accessible.</a:t>
            </a:r>
            <a:endParaRPr lang="en-IN" dirty="0"/>
          </a:p>
        </p:txBody>
      </p:sp>
      <p:sp>
        <p:nvSpPr>
          <p:cNvPr id="3" name="Title 2">
            <a:extLst>
              <a:ext uri="{FF2B5EF4-FFF2-40B4-BE49-F238E27FC236}">
                <a16:creationId xmlns:a16="http://schemas.microsoft.com/office/drawing/2014/main" id="{FEF28DB5-1A8D-1B81-FE95-5E8589F0F7B5}"/>
              </a:ext>
            </a:extLst>
          </p:cNvPr>
          <p:cNvSpPr>
            <a:spLocks noGrp="1"/>
          </p:cNvSpPr>
          <p:nvPr>
            <p:ph type="title"/>
          </p:nvPr>
        </p:nvSpPr>
        <p:spPr/>
        <p:txBody>
          <a:bodyPr>
            <a:normAutofit/>
          </a:bodyPr>
          <a:lstStyle/>
          <a:p>
            <a:pPr algn="l"/>
            <a:r>
              <a:rPr lang="en-US" sz="2400" b="1" dirty="0"/>
              <a:t>Introduction</a:t>
            </a:r>
            <a:endParaRPr lang="en-IN" sz="2400" b="1" dirty="0"/>
          </a:p>
        </p:txBody>
      </p:sp>
      <p:pic>
        <p:nvPicPr>
          <p:cNvPr id="4" name="Picture 2">
            <a:extLst>
              <a:ext uri="{FF2B5EF4-FFF2-40B4-BE49-F238E27FC236}">
                <a16:creationId xmlns:a16="http://schemas.microsoft.com/office/drawing/2014/main" id="{6A92F44D-AB07-A981-B9E8-52F424F6C7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3584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Vitamin deficiencies such as A, B12, D, and E are common nutritional disorders that can lead to severe health issues. Current detection methods rely on invasive blood tests that are time-consuming, costly, and inaccessible to many populations.</a:t>
            </a:r>
          </a:p>
          <a:p>
            <a:pPr marL="0" indent="0" algn="just">
              <a:buNone/>
            </a:pPr>
            <a:endParaRPr lang="en-US" sz="2400" dirty="0"/>
          </a:p>
          <a:p>
            <a:pPr algn="just"/>
            <a:endParaRPr sz="2400" dirty="0"/>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sz="2400" b="1" dirty="0"/>
              <a:t>Problem Statement</a:t>
            </a:r>
          </a:p>
        </p:txBody>
      </p:sp>
      <p:pic>
        <p:nvPicPr>
          <p:cNvPr id="5" name="Picture 2">
            <a:extLst>
              <a:ext uri="{FF2B5EF4-FFF2-40B4-BE49-F238E27FC236}">
                <a16:creationId xmlns:a16="http://schemas.microsoft.com/office/drawing/2014/main" id="{39694478-A737-5352-C2E3-72CADE168A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9809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6F616-BA4B-81FE-2F89-F371C90508B7}"/>
              </a:ext>
            </a:extLst>
          </p:cNvPr>
          <p:cNvSpPr>
            <a:spLocks noGrp="1"/>
          </p:cNvSpPr>
          <p:nvPr>
            <p:ph idx="1"/>
          </p:nvPr>
        </p:nvSpPr>
        <p:spPr>
          <a:xfrm>
            <a:off x="609600" y="989236"/>
            <a:ext cx="10972800" cy="5400599"/>
          </a:xfrm>
        </p:spPr>
        <p:txBody>
          <a:bodyPr vert="horz" lIns="91440" tIns="45720" rIns="91440" bIns="45720" rtlCol="0" anchor="t">
            <a:normAutofit/>
          </a:bodyPr>
          <a:lstStyle/>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develop an advanced deep learning model capable of detecting multiple vitamin deficiencies (A, B12, D, and E) through non-invasive methods using facial, nail, or eye images.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implement Convolutional Neural Networks (CNNs) that can learn and classify visual features linked to specific vitamin deficiencies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collect and preprocess image datasets showing visible signs of vitamin deficiencies for accurate model training and testing.</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design a cost-effective, accessible, and time-saving detection system that minimizes dependency on traditional blood tests.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build a user-friendly interface or mobile application that provides instant vitamin deficiency predictions for real-world healthcare use.</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evaluate the model’s performance using key metrics such as accuracy, precision, recall, and F1-score to ensure reliability and efficiency.</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a:xfrm>
            <a:off x="609600" y="228600"/>
            <a:ext cx="8652387" cy="563562"/>
          </a:xfrm>
        </p:spPr>
        <p:txBody>
          <a:bodyPr>
            <a:noAutofit/>
          </a:bodyPr>
          <a:lstStyle/>
          <a:p>
            <a:pPr algn="l"/>
            <a:r>
              <a:rPr lang="en-IN" sz="2400" b="1" dirty="0">
                <a:latin typeface="Times New Roman" panose="02020603050405020304" pitchFamily="18" charset="0"/>
                <a:cs typeface="Times New Roman" panose="02020603050405020304" pitchFamily="18" charset="0"/>
              </a:rPr>
              <a:t>Objectives</a:t>
            </a:r>
          </a:p>
        </p:txBody>
      </p:sp>
      <p:pic>
        <p:nvPicPr>
          <p:cNvPr id="5" name="Picture 2">
            <a:extLst>
              <a:ext uri="{FF2B5EF4-FFF2-40B4-BE49-F238E27FC236}">
                <a16:creationId xmlns:a16="http://schemas.microsoft.com/office/drawing/2014/main" id="{BB572E71-59FC-B059-0FFA-F447BC6946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1464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DE8E3D-D5D6-A4CA-6EF6-F89C41C41135}"/>
              </a:ext>
            </a:extLst>
          </p:cNvPr>
          <p:cNvSpPr>
            <a:spLocks noGrp="1"/>
          </p:cNvSpPr>
          <p:nvPr>
            <p:ph idx="1"/>
          </p:nvPr>
        </p:nvSpPr>
        <p:spPr>
          <a:xfrm>
            <a:off x="206829" y="1023257"/>
            <a:ext cx="11375571" cy="5606143"/>
          </a:xfrm>
        </p:spPr>
        <p:txBody>
          <a:bodyPr>
            <a:normAutofit fontScale="25000" lnSpcReduction="20000"/>
          </a:bodyPr>
          <a:lstStyle/>
          <a:p>
            <a:pPr marL="0" indent="0" algn="just">
              <a:buNone/>
            </a:pPr>
            <a:r>
              <a:rPr lang="en-US" sz="8000" b="1" dirty="0">
                <a:latin typeface="Times New Roman" panose="02020603050405020304" pitchFamily="18" charset="0"/>
                <a:cs typeface="Times New Roman" panose="02020603050405020304" pitchFamily="18" charset="0"/>
              </a:rPr>
              <a:t>Step 1: Data Collection</a:t>
            </a:r>
          </a:p>
          <a:p>
            <a:pPr marL="0" indent="0" algn="just">
              <a:buNone/>
            </a:pPr>
            <a:r>
              <a:rPr lang="en-US" sz="8000" dirty="0">
                <a:latin typeface="Times New Roman" panose="02020603050405020304" pitchFamily="18" charset="0"/>
                <a:cs typeface="Times New Roman" panose="02020603050405020304" pitchFamily="18" charset="0"/>
              </a:rPr>
              <a:t>Gather patient data such as blood test results, physical symptoms, demographic details, and medical images. This data provides the base for identifying vitamin deficiencies.</a:t>
            </a:r>
          </a:p>
          <a:p>
            <a:pPr marL="0" indent="0" algn="just">
              <a:buNone/>
            </a:pPr>
            <a:r>
              <a:rPr lang="en-US" sz="8000" b="1" dirty="0">
                <a:latin typeface="Times New Roman" panose="02020603050405020304" pitchFamily="18" charset="0"/>
                <a:cs typeface="Times New Roman" panose="02020603050405020304" pitchFamily="18" charset="0"/>
              </a:rPr>
              <a:t>Step 2: Data Preprocessing</a:t>
            </a:r>
          </a:p>
          <a:p>
            <a:pPr marL="0" indent="0" algn="just">
              <a:buNone/>
            </a:pPr>
            <a:r>
              <a:rPr lang="en-US" sz="8000" dirty="0">
                <a:latin typeface="Times New Roman" panose="02020603050405020304" pitchFamily="18" charset="0"/>
                <a:cs typeface="Times New Roman" panose="02020603050405020304" pitchFamily="18" charset="0"/>
              </a:rPr>
              <a:t>Clean and prepare the data by fixing missing values, scaling numbers, and formatting text or images. Ensures data is consistent and ready for the model.</a:t>
            </a:r>
          </a:p>
          <a:p>
            <a:pPr marL="0" indent="0">
              <a:buNone/>
            </a:pPr>
            <a:r>
              <a:rPr lang="en-US" sz="8000" b="1" dirty="0">
                <a:latin typeface="Times New Roman" panose="02020603050405020304" pitchFamily="18" charset="0"/>
                <a:cs typeface="Times New Roman" panose="02020603050405020304" pitchFamily="18" charset="0"/>
              </a:rPr>
              <a:t>Step 3: Feature Extraction</a:t>
            </a:r>
          </a:p>
          <a:p>
            <a:pPr marL="0" indent="0" algn="just">
              <a:buNone/>
            </a:pPr>
            <a:r>
              <a:rPr lang="en-US" sz="8000" dirty="0">
                <a:latin typeface="Times New Roman" panose="02020603050405020304" pitchFamily="18" charset="0"/>
                <a:cs typeface="Times New Roman" panose="02020603050405020304" pitchFamily="18" charset="0"/>
              </a:rPr>
              <a:t>Select key features like low vitamin levels, visible symptoms, and diet-related patterns. Helps the model focus on the most important deficiency indicators.</a:t>
            </a:r>
          </a:p>
          <a:p>
            <a:pPr marL="0" indent="0" algn="just">
              <a:buNone/>
            </a:pPr>
            <a:r>
              <a:rPr lang="en-US" sz="8000" b="1" dirty="0">
                <a:latin typeface="Times New Roman" panose="02020603050405020304" pitchFamily="18" charset="0"/>
                <a:cs typeface="Times New Roman" panose="02020603050405020304" pitchFamily="18" charset="0"/>
              </a:rPr>
              <a:t>Step 4: Model Development</a:t>
            </a:r>
          </a:p>
          <a:p>
            <a:pPr marL="0" indent="0" algn="just">
              <a:buNone/>
            </a:pPr>
            <a:r>
              <a:rPr lang="en-US" sz="8000" dirty="0">
                <a:latin typeface="Times New Roman" panose="02020603050405020304" pitchFamily="18" charset="0"/>
                <a:cs typeface="Times New Roman" panose="02020603050405020304" pitchFamily="18" charset="0"/>
              </a:rPr>
              <a:t>Build a hybrid deep learning model using CNN for images and ANN for numerical data, combined via a fusion layer. Improves accuracy by learning from multiple data types.</a:t>
            </a:r>
          </a:p>
          <a:p>
            <a:pPr marL="0" indent="0" algn="just">
              <a:buNone/>
            </a:pPr>
            <a:r>
              <a:rPr lang="en-US" sz="8000" b="1" dirty="0">
                <a:latin typeface="Times New Roman" panose="02020603050405020304" pitchFamily="18" charset="0"/>
                <a:cs typeface="Times New Roman" panose="02020603050405020304" pitchFamily="18" charset="0"/>
              </a:rPr>
              <a:t>Step 5: Model Training</a:t>
            </a:r>
          </a:p>
          <a:p>
            <a:pPr marL="0" indent="0" algn="just">
              <a:buNone/>
            </a:pPr>
            <a:r>
              <a:rPr lang="en-US" sz="8000" dirty="0">
                <a:latin typeface="Times New Roman" panose="02020603050405020304" pitchFamily="18" charset="0"/>
                <a:cs typeface="Times New Roman" panose="02020603050405020304" pitchFamily="18" charset="0"/>
              </a:rPr>
              <a:t>Train the model using 80% of data and test with 20% to validate accuracy. The model learns how features relate to vitamin deficiencies.</a:t>
            </a:r>
          </a:p>
          <a:p>
            <a:pPr marL="0" indent="0" algn="just">
              <a:buNone/>
            </a:pPr>
            <a:r>
              <a:rPr lang="en-US" sz="8000" b="1" dirty="0">
                <a:latin typeface="Times New Roman" panose="02020603050405020304" pitchFamily="18" charset="0"/>
                <a:cs typeface="Times New Roman" panose="02020603050405020304" pitchFamily="18" charset="0"/>
              </a:rPr>
              <a:t>Step 6: Model Evaluation</a:t>
            </a:r>
          </a:p>
          <a:p>
            <a:pPr marL="0" indent="0" algn="just">
              <a:buNone/>
            </a:pPr>
            <a:r>
              <a:rPr lang="en-US" sz="8000" dirty="0">
                <a:latin typeface="Times New Roman" panose="02020603050405020304" pitchFamily="18" charset="0"/>
                <a:cs typeface="Times New Roman" panose="02020603050405020304" pitchFamily="18" charset="0"/>
              </a:rPr>
              <a:t>Evaluate performance using metrics like accuracy, precision, and recall. Ensures the model’s predictions are reliable and correct.</a:t>
            </a:r>
          </a:p>
          <a:p>
            <a:pPr marL="0" indent="0" algn="just">
              <a:buNone/>
            </a:pPr>
            <a:r>
              <a:rPr lang="en-US" sz="8000" b="1" dirty="0">
                <a:latin typeface="Times New Roman" panose="02020603050405020304" pitchFamily="18" charset="0"/>
                <a:cs typeface="Times New Roman" panose="02020603050405020304" pitchFamily="18" charset="0"/>
              </a:rPr>
              <a:t>Step 7: Prediction and Output</a:t>
            </a:r>
          </a:p>
          <a:p>
            <a:pPr marL="0" indent="0" algn="just">
              <a:buNone/>
            </a:pPr>
            <a:r>
              <a:rPr lang="en-US" sz="8000" dirty="0">
                <a:latin typeface="Times New Roman" panose="02020603050405020304" pitchFamily="18" charset="0"/>
                <a:cs typeface="Times New Roman" panose="02020603050405020304" pitchFamily="18" charset="0"/>
              </a:rPr>
              <a:t>Use the trained model to predict vitamin deficiencies for new patient data. Provides quick and accurate.</a:t>
            </a:r>
            <a:endParaRPr lang="en-IN" sz="8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3" name="Title 2">
            <a:extLst>
              <a:ext uri="{FF2B5EF4-FFF2-40B4-BE49-F238E27FC236}">
                <a16:creationId xmlns:a16="http://schemas.microsoft.com/office/drawing/2014/main" id="{0097649B-DC7A-8AC2-A0B7-6B15EE436AF4}"/>
              </a:ext>
            </a:extLst>
          </p:cNvPr>
          <p:cNvSpPr>
            <a:spLocks noGrp="1"/>
          </p:cNvSpPr>
          <p:nvPr>
            <p:ph type="title"/>
          </p:nvPr>
        </p:nvSpPr>
        <p:spPr/>
        <p:txBody>
          <a:bodyPr>
            <a:normAutofit fontScale="90000"/>
          </a:bodyPr>
          <a:lstStyle/>
          <a:p>
            <a:br>
              <a:rPr lang="en-US" sz="2700" b="1"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Methodology</a:t>
            </a:r>
            <a:br>
              <a:rPr lang="en-US" b="1" dirty="0">
                <a:latin typeface="Times New Roman" panose="02020603050405020304" pitchFamily="18" charset="0"/>
                <a:cs typeface="Times New Roman" panose="02020603050405020304" pitchFamily="18" charset="0"/>
              </a:rPr>
            </a:br>
            <a:endParaRPr lang="en-IN" b="1" dirty="0"/>
          </a:p>
        </p:txBody>
      </p:sp>
    </p:spTree>
    <p:extLst>
      <p:ext uri="{BB962C8B-B14F-4D97-AF65-F5344CB8AC3E}">
        <p14:creationId xmlns:p14="http://schemas.microsoft.com/office/powerpoint/2010/main" val="1578501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8D8221-0C66-5F91-1BC4-E97CDBEBFF45}"/>
              </a:ext>
            </a:extLst>
          </p:cNvPr>
          <p:cNvSpPr>
            <a:spLocks noGrp="1"/>
          </p:cNvSpPr>
          <p:nvPr>
            <p:ph idx="1"/>
          </p:nvPr>
        </p:nvSpPr>
        <p:spPr/>
        <p:txBody>
          <a:bodyPr>
            <a:normAutofit/>
          </a:bodyPr>
          <a:lstStyle/>
          <a:p>
            <a:pPr algn="just"/>
            <a:r>
              <a:rPr lang="en-US" sz="2000" dirty="0"/>
              <a:t>The advanced vitamin deficiency detection system uses deep learning techniques to identify vitamin deficiencies from images. First, a dataset of images showing symptoms such as changes in skin, eyes, lips, tongue, and nails is collected and labeled according to different vitamin deficiencies like Vitamin A, B, C, and D. The images are then preprocessed by resizing them to a fixed size, normalizing pixel values, and removing noise to improve quality. After preprocessing, the dataset is divided into training and testing sets. A Convolutional Neural Network (CNN) model is used to analyze the images and learn patterns related to vitamin deficiency symptoms. The model is trained using parameters like Adam optimizer and cross-entropy loss function. After training, the system can predict the type of vitamin deficiency when a new image is uploaded and display the result to the user.</a:t>
            </a:r>
            <a:endParaRPr lang="en-IN" sz="2000" dirty="0"/>
          </a:p>
        </p:txBody>
      </p:sp>
      <p:sp>
        <p:nvSpPr>
          <p:cNvPr id="3" name="Title 2">
            <a:extLst>
              <a:ext uri="{FF2B5EF4-FFF2-40B4-BE49-F238E27FC236}">
                <a16:creationId xmlns:a16="http://schemas.microsoft.com/office/drawing/2014/main" id="{1937C5BA-2703-F17A-5AA1-8DB40EA04C26}"/>
              </a:ext>
            </a:extLst>
          </p:cNvPr>
          <p:cNvSpPr>
            <a:spLocks noGrp="1"/>
          </p:cNvSpPr>
          <p:nvPr>
            <p:ph type="title"/>
          </p:nvPr>
        </p:nvSpPr>
        <p:spPr/>
        <p:txBody>
          <a:bodyPr/>
          <a:lstStyle/>
          <a:p>
            <a:r>
              <a:rPr lang="en-US" b="1" dirty="0"/>
              <a:t>Implementation details </a:t>
            </a:r>
            <a:endParaRPr lang="en-IN" b="1" dirty="0"/>
          </a:p>
        </p:txBody>
      </p:sp>
    </p:spTree>
    <p:extLst>
      <p:ext uri="{BB962C8B-B14F-4D97-AF65-F5344CB8AC3E}">
        <p14:creationId xmlns:p14="http://schemas.microsoft.com/office/powerpoint/2010/main" val="241038093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CDDF65-D018-D714-5FC9-0354D733DC2E}"/>
              </a:ext>
            </a:extLst>
          </p:cNvPr>
          <p:cNvSpPr>
            <a:spLocks noGrp="1"/>
          </p:cNvSpPr>
          <p:nvPr>
            <p:ph type="title"/>
          </p:nvPr>
        </p:nvSpPr>
        <p:spPr/>
        <p:txBody>
          <a:bodyPr/>
          <a:lstStyle/>
          <a:p>
            <a:r>
              <a:rPr lang="en-US" b="1" dirty="0"/>
              <a:t>Results</a:t>
            </a:r>
            <a:endParaRPr lang="en-IN" b="1" dirty="0"/>
          </a:p>
        </p:txBody>
      </p:sp>
      <p:pic>
        <p:nvPicPr>
          <p:cNvPr id="4" name="Content Placeholder 5">
            <a:extLst>
              <a:ext uri="{FF2B5EF4-FFF2-40B4-BE49-F238E27FC236}">
                <a16:creationId xmlns:a16="http://schemas.microsoft.com/office/drawing/2014/main" id="{B95884D3-55C4-5361-BCEA-B8BB44211A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21284" y="1328057"/>
            <a:ext cx="4147458" cy="4525963"/>
          </a:xfrm>
        </p:spPr>
      </p:pic>
      <p:pic>
        <p:nvPicPr>
          <p:cNvPr id="5" name="Picture 4">
            <a:extLst>
              <a:ext uri="{FF2B5EF4-FFF2-40B4-BE49-F238E27FC236}">
                <a16:creationId xmlns:a16="http://schemas.microsoft.com/office/drawing/2014/main" id="{0F5EDEED-81D8-4546-C6C8-95A48E721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28057"/>
            <a:ext cx="5965371" cy="4746172"/>
          </a:xfrm>
          <a:prstGeom prst="rect">
            <a:avLst/>
          </a:prstGeom>
        </p:spPr>
      </p:pic>
    </p:spTree>
    <p:extLst>
      <p:ext uri="{BB962C8B-B14F-4D97-AF65-F5344CB8AC3E}">
        <p14:creationId xmlns:p14="http://schemas.microsoft.com/office/powerpoint/2010/main" val="29881689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55E777-6E30-CBC9-A189-3040365C67FE}"/>
              </a:ext>
            </a:extLst>
          </p:cNvPr>
          <p:cNvSpPr>
            <a:spLocks noGrp="1"/>
          </p:cNvSpPr>
          <p:nvPr>
            <p:ph type="title"/>
          </p:nvPr>
        </p:nvSpPr>
        <p:spPr/>
        <p:txBody>
          <a:bodyPr/>
          <a:lstStyle/>
          <a:p>
            <a:r>
              <a:rPr lang="en-US" b="1" dirty="0"/>
              <a:t>Tools and technologies</a:t>
            </a:r>
            <a:endParaRPr lang="en-IN" b="1" dirty="0"/>
          </a:p>
        </p:txBody>
      </p:sp>
      <p:sp>
        <p:nvSpPr>
          <p:cNvPr id="4" name="Rectangle 1">
            <a:extLst>
              <a:ext uri="{FF2B5EF4-FFF2-40B4-BE49-F238E27FC236}">
                <a16:creationId xmlns:a16="http://schemas.microsoft.com/office/drawing/2014/main" id="{AE94D4DF-DBED-A3DA-4733-50B1B0009EE8}"/>
              </a:ext>
            </a:extLst>
          </p:cNvPr>
          <p:cNvSpPr>
            <a:spLocks noGrp="1" noChangeArrowheads="1"/>
          </p:cNvSpPr>
          <p:nvPr>
            <p:ph idx="1"/>
          </p:nvPr>
        </p:nvSpPr>
        <p:spPr bwMode="auto">
          <a:xfrm>
            <a:off x="609599" y="1548832"/>
            <a:ext cx="1077685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r>
              <a:rPr lang="en-US" sz="2000" b="1" dirty="0"/>
              <a:t>Python</a:t>
            </a:r>
            <a:r>
              <a:rPr lang="en-US" sz="2000" dirty="0"/>
              <a:t>  Used as the main programming language for developing the deep learning model.</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TensorFlow &amp; Keras</a:t>
            </a:r>
            <a:r>
              <a:rPr lang="en-US" sz="2000" dirty="0"/>
              <a:t>  Used to build and train the CNN deep learning model for vitamin deficiency detection.</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NumPy</a:t>
            </a:r>
            <a:r>
              <a:rPr lang="en-US" sz="2000" dirty="0"/>
              <a:t>  Used for numerical computations and array processing.</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Matplotlib &amp; Seaborn</a:t>
            </a:r>
            <a:r>
              <a:rPr lang="en-US" sz="2000" dirty="0"/>
              <a:t> Used to visualize results such as graphs and prediction probabilities.</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ImageDataGenerator</a:t>
            </a:r>
            <a:r>
              <a:rPr lang="en-US" sz="2000" dirty="0"/>
              <a:t>  Used for loading and preprocessing image datasets. </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GoogleColab</a:t>
            </a:r>
            <a:r>
              <a:rPr lang="en-US" sz="2000" dirty="0"/>
              <a:t> Used as the development environment to run and train the model.</a:t>
            </a:r>
          </a:p>
          <a:p>
            <a:pPr marL="0" lvl="0" indent="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764428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925FDC-785F-D0D2-8CF8-A089EFE54232}"/>
              </a:ext>
            </a:extLst>
          </p:cNvPr>
          <p:cNvSpPr>
            <a:spLocks noGrp="1"/>
          </p:cNvSpPr>
          <p:nvPr>
            <p:ph idx="1"/>
          </p:nvPr>
        </p:nvSpPr>
        <p:spPr/>
        <p:txBody>
          <a:bodyPr>
            <a:normAutofit/>
          </a:bodyPr>
          <a:lstStyle/>
          <a:p>
            <a:pPr algn="just"/>
            <a:r>
              <a:rPr lang="en-IN" sz="2400" b="1" dirty="0"/>
              <a:t>Laptop / Desktop </a:t>
            </a:r>
            <a:r>
              <a:rPr lang="en-IN" sz="2400" dirty="0"/>
              <a:t>with GPU For faster training.</a:t>
            </a:r>
          </a:p>
          <a:p>
            <a:pPr algn="just"/>
            <a:r>
              <a:rPr lang="en-IN" sz="2400" b="1" dirty="0"/>
              <a:t>Processor:</a:t>
            </a:r>
            <a:r>
              <a:rPr lang="en-IN" sz="2400" dirty="0"/>
              <a:t> Intel i5 / i7 or higher.</a:t>
            </a:r>
          </a:p>
          <a:p>
            <a:pPr algn="just"/>
            <a:r>
              <a:rPr lang="en-US" sz="2400" b="1" dirty="0"/>
              <a:t>RAM:</a:t>
            </a:r>
            <a:r>
              <a:rPr lang="en-US" sz="2400" dirty="0"/>
              <a:t> Minimum 8 GB (16 GB recommended).</a:t>
            </a:r>
          </a:p>
          <a:p>
            <a:pPr algn="just"/>
            <a:r>
              <a:rPr lang="en-US" sz="2400" b="1" dirty="0"/>
              <a:t>Storage:</a:t>
            </a:r>
            <a:r>
              <a:rPr lang="en-US" sz="2400" dirty="0"/>
              <a:t> 256 GB or higher.</a:t>
            </a:r>
          </a:p>
          <a:p>
            <a:pPr algn="just"/>
            <a:r>
              <a:rPr lang="en-US" sz="2400" b="1" dirty="0"/>
              <a:t>GPU:</a:t>
            </a:r>
            <a:r>
              <a:rPr lang="en-US" sz="2400" dirty="0"/>
              <a:t> Google Colab GPU for faster model training</a:t>
            </a:r>
            <a:endParaRPr lang="en-IN" sz="2400" dirty="0"/>
          </a:p>
        </p:txBody>
      </p:sp>
      <p:sp>
        <p:nvSpPr>
          <p:cNvPr id="3" name="Title 2">
            <a:extLst>
              <a:ext uri="{FF2B5EF4-FFF2-40B4-BE49-F238E27FC236}">
                <a16:creationId xmlns:a16="http://schemas.microsoft.com/office/drawing/2014/main" id="{F6A4EE77-CD7B-C6BD-D221-A6E466C2E052}"/>
              </a:ext>
            </a:extLst>
          </p:cNvPr>
          <p:cNvSpPr>
            <a:spLocks noGrp="1"/>
          </p:cNvSpPr>
          <p:nvPr>
            <p:ph type="title"/>
          </p:nvPr>
        </p:nvSpPr>
        <p:spPr/>
        <p:txBody>
          <a:bodyPr>
            <a:normAutofit/>
          </a:bodyPr>
          <a:lstStyle/>
          <a:p>
            <a:pPr algn="l"/>
            <a:r>
              <a:rPr lang="en-US" sz="2400" b="1" dirty="0">
                <a:latin typeface="Times New Roman" panose="02020603050405020304" pitchFamily="18" charset="0"/>
                <a:cs typeface="Times New Roman" panose="02020603050405020304" pitchFamily="18" charset="0"/>
              </a:rPr>
              <a:t>Hardware Requirements</a:t>
            </a:r>
            <a:endParaRPr lang="en-IN" sz="2400" dirty="0"/>
          </a:p>
        </p:txBody>
      </p:sp>
      <p:pic>
        <p:nvPicPr>
          <p:cNvPr id="4" name="Picture 2">
            <a:extLst>
              <a:ext uri="{FF2B5EF4-FFF2-40B4-BE49-F238E27FC236}">
                <a16:creationId xmlns:a16="http://schemas.microsoft.com/office/drawing/2014/main" id="{0E762730-10BD-5DC8-C2BC-BC948E6476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91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FF25C6-A8D6-08FA-D22A-36CD3A533A75}"/>
              </a:ext>
            </a:extLst>
          </p:cNvPr>
          <p:cNvSpPr>
            <a:spLocks noGrp="1"/>
          </p:cNvSpPr>
          <p:nvPr>
            <p:ph idx="1"/>
          </p:nvPr>
        </p:nvSpPr>
        <p:spPr/>
        <p:txBody>
          <a:bodyPr>
            <a:normAutofit/>
          </a:bodyPr>
          <a:lstStyle/>
          <a:p>
            <a:r>
              <a:rPr lang="en-US" sz="2200" b="1" dirty="0"/>
              <a:t>Operating System:</a:t>
            </a:r>
            <a:r>
              <a:rPr lang="en-US" sz="2200" dirty="0"/>
              <a:t> Windows / Linux / macOS</a:t>
            </a:r>
          </a:p>
          <a:p>
            <a:r>
              <a:rPr lang="en-US" sz="2200" b="1" dirty="0"/>
              <a:t>Programming Language:</a:t>
            </a:r>
            <a:r>
              <a:rPr lang="en-US" sz="2200" dirty="0"/>
              <a:t> Python 3.x</a:t>
            </a:r>
          </a:p>
          <a:p>
            <a:r>
              <a:rPr lang="en-IN" sz="2200" b="1" dirty="0"/>
              <a:t>Libraries:</a:t>
            </a:r>
            <a:r>
              <a:rPr lang="en-IN" sz="2200" dirty="0"/>
              <a:t> TensorFlow, </a:t>
            </a:r>
            <a:r>
              <a:rPr lang="en-IN" sz="2200" dirty="0" err="1"/>
              <a:t>Keras</a:t>
            </a:r>
            <a:r>
              <a:rPr lang="en-IN" sz="2200" dirty="0"/>
              <a:t>, NumPy, Matplotlib.</a:t>
            </a:r>
          </a:p>
          <a:p>
            <a:r>
              <a:rPr lang="en-US" sz="2200" b="1" dirty="0"/>
              <a:t>Development Tools:</a:t>
            </a:r>
            <a:r>
              <a:rPr lang="en-US" sz="2200" dirty="0"/>
              <a:t> Google Colab / </a:t>
            </a:r>
            <a:r>
              <a:rPr lang="en-US" sz="2200" dirty="0" err="1"/>
              <a:t>Jupyter</a:t>
            </a:r>
            <a:r>
              <a:rPr lang="en-US" sz="2200" dirty="0"/>
              <a:t> Notebook</a:t>
            </a:r>
          </a:p>
          <a:p>
            <a:r>
              <a:rPr lang="en-US" sz="2200" b="1" dirty="0"/>
              <a:t>Dataset:</a:t>
            </a:r>
            <a:r>
              <a:rPr lang="en-US" sz="2200" dirty="0"/>
              <a:t> Image dataset of vitamin deficiency symptoms for model training.</a:t>
            </a:r>
            <a:endParaRPr lang="en-IN" sz="2200" dirty="0"/>
          </a:p>
        </p:txBody>
      </p:sp>
      <p:sp>
        <p:nvSpPr>
          <p:cNvPr id="3" name="Title 2">
            <a:extLst>
              <a:ext uri="{FF2B5EF4-FFF2-40B4-BE49-F238E27FC236}">
                <a16:creationId xmlns:a16="http://schemas.microsoft.com/office/drawing/2014/main" id="{26A98D2E-E66A-260D-82B3-AB100FECA85E}"/>
              </a:ext>
            </a:extLst>
          </p:cNvPr>
          <p:cNvSpPr>
            <a:spLocks noGrp="1"/>
          </p:cNvSpPr>
          <p:nvPr>
            <p:ph type="title"/>
          </p:nvPr>
        </p:nvSpPr>
        <p:spPr/>
        <p:txBody>
          <a:bodyPr>
            <a:normAutofit/>
          </a:bodyPr>
          <a:lstStyle/>
          <a:p>
            <a:pPr algn="l"/>
            <a:r>
              <a:rPr lang="en-US" sz="2400" b="1" dirty="0">
                <a:latin typeface="Times New Roman" panose="02020603050405020304" pitchFamily="18" charset="0"/>
                <a:cs typeface="Times New Roman" panose="02020603050405020304" pitchFamily="18" charset="0"/>
              </a:rPr>
              <a:t> Software Requirements</a:t>
            </a:r>
            <a:endParaRPr lang="en-IN" sz="2400" dirty="0"/>
          </a:p>
        </p:txBody>
      </p:sp>
      <p:pic>
        <p:nvPicPr>
          <p:cNvPr id="4" name="Picture 2">
            <a:extLst>
              <a:ext uri="{FF2B5EF4-FFF2-40B4-BE49-F238E27FC236}">
                <a16:creationId xmlns:a16="http://schemas.microsoft.com/office/drawing/2014/main" id="{BDE447E4-F267-4652-E10A-82C5A78E91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403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1AA9D5-41F0-8706-32CD-DDE2D6B0AB01}"/>
              </a:ext>
            </a:extLst>
          </p:cNvPr>
          <p:cNvSpPr>
            <a:spLocks noGrp="1"/>
          </p:cNvSpPr>
          <p:nvPr>
            <p:ph type="title"/>
          </p:nvPr>
        </p:nvSpPr>
        <p:spPr/>
        <p:txBody>
          <a:bodyPr/>
          <a:lstStyle/>
          <a:p>
            <a:r>
              <a:rPr lang="en-US" b="1" dirty="0"/>
              <a:t>Research paper status</a:t>
            </a:r>
            <a:endParaRPr lang="en-IN" b="1" dirty="0"/>
          </a:p>
        </p:txBody>
      </p:sp>
      <p:sp>
        <p:nvSpPr>
          <p:cNvPr id="7" name="Content Placeholder 6">
            <a:extLst>
              <a:ext uri="{FF2B5EF4-FFF2-40B4-BE49-F238E27FC236}">
                <a16:creationId xmlns:a16="http://schemas.microsoft.com/office/drawing/2014/main" id="{B323CF7D-F15F-C06C-190D-621B4AC9987F}"/>
              </a:ext>
            </a:extLst>
          </p:cNvPr>
          <p:cNvSpPr>
            <a:spLocks noGrp="1"/>
          </p:cNvSpPr>
          <p:nvPr>
            <p:ph idx="1"/>
          </p:nvPr>
        </p:nvSpPr>
        <p:spPr/>
        <p:txBody>
          <a:bodyPr/>
          <a:lstStyle/>
          <a:p>
            <a:pPr marL="0" indent="0">
              <a:buNone/>
            </a:pPr>
            <a:r>
              <a:rPr lang="en-US" dirty="0"/>
              <a:t> </a:t>
            </a:r>
            <a:endParaRPr lang="en-IN" dirty="0"/>
          </a:p>
        </p:txBody>
      </p:sp>
      <p:pic>
        <p:nvPicPr>
          <p:cNvPr id="8" name="Picture 7">
            <a:extLst>
              <a:ext uri="{FF2B5EF4-FFF2-40B4-BE49-F238E27FC236}">
                <a16:creationId xmlns:a16="http://schemas.microsoft.com/office/drawing/2014/main" id="{0C6F7E44-2424-71B1-C240-D6FDC982D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600202"/>
            <a:ext cx="5998030" cy="4659084"/>
          </a:xfrm>
          <a:prstGeom prst="rect">
            <a:avLst/>
          </a:prstGeom>
        </p:spPr>
      </p:pic>
    </p:spTree>
    <p:extLst>
      <p:ext uri="{BB962C8B-B14F-4D97-AF65-F5344CB8AC3E}">
        <p14:creationId xmlns:p14="http://schemas.microsoft.com/office/powerpoint/2010/main" val="20841037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esk with a keyboard and notepads&#10;&#10;AI-generated content may be incorrect.">
            <a:extLst>
              <a:ext uri="{FF2B5EF4-FFF2-40B4-BE49-F238E27FC236}">
                <a16:creationId xmlns:a16="http://schemas.microsoft.com/office/drawing/2014/main" id="{B942FC5D-985F-EC20-6E10-26EE12C4D3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71355"/>
          </a:xfrm>
        </p:spPr>
      </p:pic>
    </p:spTree>
    <p:extLst>
      <p:ext uri="{BB962C8B-B14F-4D97-AF65-F5344CB8AC3E}">
        <p14:creationId xmlns:p14="http://schemas.microsoft.com/office/powerpoint/2010/main" val="24641178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488</TotalTime>
  <Words>1287</Words>
  <Application>Microsoft Office PowerPoint</Application>
  <PresentationFormat>Widescreen</PresentationFormat>
  <Paragraphs>116</Paragraphs>
  <Slides>15</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Bookman Old Style</vt:lpstr>
      <vt:lpstr>Calibri</vt:lpstr>
      <vt:lpstr>Calibri Light</vt:lpstr>
      <vt:lpstr>Times New Roman</vt:lpstr>
      <vt:lpstr>Office Theme</vt:lpstr>
      <vt:lpstr>Retrospect</vt:lpstr>
      <vt:lpstr>                                      Year: IV &amp; Semester: VII                          Alliance School of Advanced Computing                                       Department of CSE-IT</vt:lpstr>
      <vt:lpstr>PowerPoint Presentation</vt:lpstr>
      <vt:lpstr>                                              Agenda </vt:lpstr>
      <vt:lpstr>Abstract</vt:lpstr>
      <vt:lpstr>Introduction</vt:lpstr>
      <vt:lpstr>Problem Statement</vt:lpstr>
      <vt:lpstr>Objectives</vt:lpstr>
      <vt:lpstr> Methodology </vt:lpstr>
      <vt:lpstr>Implementation details </vt:lpstr>
      <vt:lpstr>Results</vt:lpstr>
      <vt:lpstr>Tools and technologies</vt:lpstr>
      <vt:lpstr>Hardware Requirements</vt:lpstr>
      <vt:lpstr> Software Requirements</vt:lpstr>
      <vt:lpstr>Research paper status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satya kummathi</cp:lastModifiedBy>
  <cp:revision>49</cp:revision>
  <cp:lastPrinted>2020-11-26T03:04:06Z</cp:lastPrinted>
  <dcterms:created xsi:type="dcterms:W3CDTF">2008-12-05T06:42:08Z</dcterms:created>
  <dcterms:modified xsi:type="dcterms:W3CDTF">2026-03-06T05:44:39Z</dcterms:modified>
</cp:coreProperties>
</file>